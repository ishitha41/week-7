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60" r:id="rId5"/>
    <p:sldId id="297" r:id="rId6"/>
    <p:sldId id="298" r:id="rId7"/>
    <p:sldId id="261" r:id="rId8"/>
    <p:sldId id="262" r:id="rId9"/>
    <p:sldId id="263" r:id="rId10"/>
    <p:sldId id="271" r:id="rId11"/>
    <p:sldId id="270" r:id="rId12"/>
    <p:sldId id="268" r:id="rId13"/>
    <p:sldId id="269" r:id="rId14"/>
    <p:sldId id="273" r:id="rId15"/>
    <p:sldId id="274" r:id="rId16"/>
    <p:sldId id="276" r:id="rId17"/>
    <p:sldId id="277" r:id="rId18"/>
    <p:sldId id="281" r:id="rId19"/>
    <p:sldId id="282" r:id="rId20"/>
    <p:sldId id="272" r:id="rId21"/>
    <p:sldId id="284" r:id="rId22"/>
    <p:sldId id="285" r:id="rId23"/>
    <p:sldId id="286" r:id="rId24"/>
    <p:sldId id="289" r:id="rId25"/>
    <p:sldId id="295" r:id="rId26"/>
    <p:sldId id="29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>
        <p:scale>
          <a:sx n="77" d="100"/>
          <a:sy n="77" d="100"/>
        </p:scale>
        <p:origin x="-116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2EB15BFD-B85D-4FFC-B2CE-AE2394F04711}" type="datetimeFigureOut">
              <a:rPr lang="en-US" smtClean="0"/>
              <a:pPr/>
              <a:t>7/1/2017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B4900A9-F5F5-4BAA-9FBE-4E9940F3B1D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0070C0"/>
                </a:solidFill>
              </a:rPr>
              <a:t>Apache </a:t>
            </a:r>
            <a:r>
              <a:rPr lang="en-US" sz="5400" b="1" dirty="0" err="1" smtClean="0">
                <a:solidFill>
                  <a:srgbClr val="0070C0"/>
                </a:solidFill>
              </a:rPr>
              <a:t>HBase</a:t>
            </a:r>
            <a:endParaRPr lang="en-IN" sz="5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</a:rPr>
              <a:t>HBase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 in 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</a:rPr>
              <a:t>Hadoop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 Eco System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143108" y="5286388"/>
            <a:ext cx="5286412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HDFS</a:t>
            </a:r>
            <a:endParaRPr lang="en-IN" sz="32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2143108" y="4500570"/>
            <a:ext cx="2357454" cy="64294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HBASE</a:t>
            </a:r>
            <a:endParaRPr lang="en-IN" sz="32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4714876" y="4500570"/>
            <a:ext cx="271464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 smtClean="0"/>
              <a:t>HCATALOG</a:t>
            </a:r>
            <a:endParaRPr lang="en-IN" sz="30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2143108" y="3643314"/>
            <a:ext cx="5286412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MAP REDUCE</a:t>
            </a:r>
            <a:endParaRPr lang="en-IN" sz="32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4000496" y="2857496"/>
            <a:ext cx="128588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PIG</a:t>
            </a:r>
            <a:endParaRPr lang="en-IN" sz="32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2143108" y="2857496"/>
            <a:ext cx="164307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HIVE</a:t>
            </a:r>
            <a:endParaRPr lang="en-IN" sz="32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5500694" y="2857496"/>
            <a:ext cx="1928826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MAHOUT</a:t>
            </a:r>
            <a:endParaRPr lang="en-IN" sz="2400" b="1" dirty="0"/>
          </a:p>
        </p:txBody>
      </p:sp>
      <p:sp>
        <p:nvSpPr>
          <p:cNvPr id="11" name="Rounded Rectangle 10"/>
          <p:cNvSpPr/>
          <p:nvPr/>
        </p:nvSpPr>
        <p:spPr>
          <a:xfrm rot="16200000">
            <a:off x="107125" y="4107661"/>
            <a:ext cx="3143272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    ZOOKEEPER	</a:t>
            </a:r>
            <a:endParaRPr lang="en-IN" sz="3200" b="1" dirty="0"/>
          </a:p>
        </p:txBody>
      </p:sp>
      <p:sp>
        <p:nvSpPr>
          <p:cNvPr id="12" name="Rounded Rectangle 11"/>
          <p:cNvSpPr/>
          <p:nvPr/>
        </p:nvSpPr>
        <p:spPr>
          <a:xfrm rot="16200000">
            <a:off x="-750131" y="4107661"/>
            <a:ext cx="3143272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     OOZIE	</a:t>
            </a:r>
            <a:endParaRPr lang="en-IN" sz="3200" b="1" dirty="0"/>
          </a:p>
        </p:txBody>
      </p:sp>
      <p:sp>
        <p:nvSpPr>
          <p:cNvPr id="13" name="Rounded Rectangle 12"/>
          <p:cNvSpPr/>
          <p:nvPr/>
        </p:nvSpPr>
        <p:spPr>
          <a:xfrm rot="16200000">
            <a:off x="7250925" y="3321843"/>
            <a:ext cx="1571636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  </a:t>
            </a:r>
            <a:r>
              <a:rPr lang="en-US" sz="2400" b="1" dirty="0" smtClean="0"/>
              <a:t>SQOOP	</a:t>
            </a:r>
            <a:endParaRPr lang="en-IN" sz="2400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571472" y="2000240"/>
            <a:ext cx="7786742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AMBARI</a:t>
            </a:r>
            <a:endParaRPr lang="en-IN" sz="3200" b="1" dirty="0"/>
          </a:p>
        </p:txBody>
      </p:sp>
      <p:sp>
        <p:nvSpPr>
          <p:cNvPr id="16" name="Rounded Rectangle 15"/>
          <p:cNvSpPr/>
          <p:nvPr/>
        </p:nvSpPr>
        <p:spPr>
          <a:xfrm rot="16200000">
            <a:off x="7286644" y="5000636"/>
            <a:ext cx="1500198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FLUME</a:t>
            </a:r>
            <a:endParaRPr lang="en-IN" sz="2400" b="1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758952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HBASE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IN" b="1" dirty="0" err="1"/>
              <a:t>HBase</a:t>
            </a:r>
            <a:r>
              <a:rPr lang="en-IN" b="1" dirty="0"/>
              <a:t> is an open source distributed, sparse,</a:t>
            </a:r>
          </a:p>
          <a:p>
            <a:pPr algn="ctr">
              <a:buNone/>
            </a:pPr>
            <a:r>
              <a:rPr lang="en-IN" b="1" dirty="0"/>
              <a:t>multidimensional sorted map </a:t>
            </a:r>
            <a:r>
              <a:rPr lang="en-IN" b="1" dirty="0" smtClean="0"/>
              <a:t>modelled</a:t>
            </a:r>
          </a:p>
          <a:p>
            <a:pPr algn="ctr">
              <a:buNone/>
            </a:pPr>
            <a:r>
              <a:rPr lang="en-IN" b="1" dirty="0" smtClean="0"/>
              <a:t>After Google’s </a:t>
            </a:r>
            <a:r>
              <a:rPr lang="en-IN" b="1" dirty="0"/>
              <a:t>Big </a:t>
            </a:r>
            <a:r>
              <a:rPr lang="en-IN" b="1" dirty="0" smtClean="0"/>
              <a:t>Table</a:t>
            </a:r>
          </a:p>
          <a:p>
            <a:pPr>
              <a:buNone/>
            </a:pPr>
            <a:endParaRPr lang="en-US" dirty="0"/>
          </a:p>
          <a:p>
            <a:r>
              <a:rPr lang="en-IN" sz="2800" i="1" dirty="0"/>
              <a:t>Map -&gt; Associates keys to values</a:t>
            </a:r>
          </a:p>
          <a:p>
            <a:r>
              <a:rPr lang="en-IN" sz="2800" i="1" dirty="0"/>
              <a:t>Sorted -&gt; Ordered by key (efficient look-ups)</a:t>
            </a:r>
          </a:p>
          <a:p>
            <a:r>
              <a:rPr lang="en-IN" sz="2800" i="1" dirty="0"/>
              <a:t>Multidimensional -&gt; Key is formed by several values</a:t>
            </a:r>
          </a:p>
          <a:p>
            <a:r>
              <a:rPr lang="en-IN" sz="2800" i="1" dirty="0"/>
              <a:t>Persistent -&gt; Once written, it is there until removed</a:t>
            </a:r>
          </a:p>
          <a:p>
            <a:r>
              <a:rPr lang="en-IN" sz="2800" i="1" dirty="0"/>
              <a:t>Distributed -&gt; Stored across different </a:t>
            </a:r>
            <a:r>
              <a:rPr lang="en-IN" sz="2800" i="1" dirty="0" smtClean="0"/>
              <a:t>nodes</a:t>
            </a:r>
          </a:p>
          <a:p>
            <a:r>
              <a:rPr lang="en-IN" sz="2800" i="1" dirty="0" smtClean="0"/>
              <a:t>Sparse </a:t>
            </a:r>
            <a:r>
              <a:rPr lang="en-IN" sz="2800" i="1" dirty="0"/>
              <a:t>-&gt; Many (most) values are not defined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When to Use HBASE 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• </a:t>
            </a:r>
            <a:r>
              <a:rPr lang="en-IN" sz="2800" dirty="0" smtClean="0"/>
              <a:t>Lots </a:t>
            </a:r>
            <a:r>
              <a:rPr lang="en-IN" sz="2800" dirty="0"/>
              <a:t>of data </a:t>
            </a:r>
          </a:p>
          <a:p>
            <a:pPr>
              <a:buNone/>
            </a:pPr>
            <a:r>
              <a:rPr lang="en-IN" sz="2800" dirty="0"/>
              <a:t>	</a:t>
            </a:r>
            <a:r>
              <a:rPr lang="en-IN" sz="2800" dirty="0" smtClean="0"/>
              <a:t>	100s </a:t>
            </a:r>
            <a:r>
              <a:rPr lang="en-IN" sz="2800" dirty="0"/>
              <a:t>of Gigabytes </a:t>
            </a:r>
            <a:r>
              <a:rPr lang="en-IN" sz="2800" dirty="0" err="1"/>
              <a:t>upto</a:t>
            </a:r>
            <a:r>
              <a:rPr lang="en-IN" sz="2800" dirty="0"/>
              <a:t> </a:t>
            </a:r>
            <a:r>
              <a:rPr lang="en-IN" sz="2800" dirty="0" err="1"/>
              <a:t>Petabytes</a:t>
            </a:r>
            <a:r>
              <a:rPr lang="en-IN" sz="2800" dirty="0"/>
              <a:t> </a:t>
            </a:r>
          </a:p>
          <a:p>
            <a:pPr>
              <a:buNone/>
            </a:pPr>
            <a:r>
              <a:rPr lang="en-IN" sz="2800" dirty="0"/>
              <a:t>•High write throughput </a:t>
            </a:r>
          </a:p>
          <a:p>
            <a:pPr>
              <a:buNone/>
            </a:pPr>
            <a:r>
              <a:rPr lang="en-IN" sz="2800" dirty="0" smtClean="0"/>
              <a:t>		1000s </a:t>
            </a:r>
            <a:r>
              <a:rPr lang="en-IN" sz="2800" dirty="0"/>
              <a:t>/second (per second) </a:t>
            </a:r>
          </a:p>
          <a:p>
            <a:pPr>
              <a:buNone/>
            </a:pP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When to Use HBASE 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 smtClean="0"/>
              <a:t>• Storing relationships between the element is not important.</a:t>
            </a:r>
          </a:p>
          <a:p>
            <a:pPr marL="0" indent="0">
              <a:buNone/>
            </a:pPr>
            <a:r>
              <a:rPr lang="en-IN" sz="2800" dirty="0" smtClean="0"/>
              <a:t>• The data is not structured or the structure is changing with time. </a:t>
            </a:r>
          </a:p>
          <a:p>
            <a:pPr marL="0" indent="0">
              <a:buNone/>
            </a:pPr>
            <a:r>
              <a:rPr lang="en-IN" sz="2800" dirty="0" smtClean="0"/>
              <a:t>• Constraints and Validation logic are required to be implemented at Database Level</a:t>
            </a:r>
          </a:p>
          <a:p>
            <a:pPr marL="0" indent="0">
              <a:buNone/>
            </a:pPr>
            <a:r>
              <a:rPr lang="en-IN" sz="2800" dirty="0" smtClean="0"/>
              <a:t>• Dealing with growing lists of elements like Twitter and Facebook post, Blogs, server logs etc.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8402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When Not to Use HBASE 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 smtClean="0"/>
              <a:t>• Complex transaction need to handled</a:t>
            </a:r>
          </a:p>
          <a:p>
            <a:pPr marL="0" indent="0">
              <a:buNone/>
            </a:pPr>
            <a:endParaRPr lang="en-IN" sz="2800" dirty="0" smtClean="0"/>
          </a:p>
          <a:p>
            <a:pPr marL="0" indent="0">
              <a:buNone/>
            </a:pPr>
            <a:r>
              <a:rPr lang="en-IN" sz="2800" dirty="0" smtClean="0"/>
              <a:t>•  Joins must be handled at database level</a:t>
            </a:r>
          </a:p>
          <a:p>
            <a:pPr marL="0" indent="0">
              <a:buNone/>
            </a:pPr>
            <a:endParaRPr lang="en-IN" sz="2800" dirty="0" smtClean="0"/>
          </a:p>
          <a:p>
            <a:pPr marL="0" indent="0">
              <a:buNone/>
            </a:pPr>
            <a:r>
              <a:rPr lang="en-IN" sz="2800" dirty="0" smtClean="0"/>
              <a:t>•  Validation must be handled at database level</a:t>
            </a:r>
          </a:p>
          <a:p>
            <a:pPr marL="0" indent="0">
              <a:buNone/>
            </a:pPr>
            <a:endParaRPr lang="en-IN" sz="2800" dirty="0" smtClean="0"/>
          </a:p>
          <a:p>
            <a:pPr marL="0" indent="0">
              <a:buNone/>
            </a:pPr>
            <a:r>
              <a:rPr lang="en-IN" sz="2800" dirty="0" smtClean="0"/>
              <a:t>•  Dealing with GB of data</a:t>
            </a: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14825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HBASE 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</a:rPr>
              <a:t>vs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 RDBMS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301625" y="1527175"/>
          <a:ext cx="8504238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2119"/>
                <a:gridCol w="425211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HBASE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RDBMS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Column</a:t>
                      </a:r>
                      <a:r>
                        <a:rPr lang="en-US" baseline="0" dirty="0" smtClean="0"/>
                        <a:t> Oriented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Row Oriented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Flexible</a:t>
                      </a:r>
                      <a:r>
                        <a:rPr lang="en-US" baseline="0" dirty="0" smtClean="0"/>
                        <a:t> Schema, Create column on the fly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Fixed Schema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Good for Sparse</a:t>
                      </a:r>
                      <a:r>
                        <a:rPr lang="en-US" baseline="0" dirty="0" smtClean="0"/>
                        <a:t> Tables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Good for Structured Tables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Not</a:t>
                      </a:r>
                      <a:r>
                        <a:rPr lang="en-US" baseline="0" dirty="0" smtClean="0"/>
                        <a:t> providing SQL based access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 query</a:t>
                      </a:r>
                      <a:r>
                        <a:rPr lang="en-US" baseline="0" dirty="0" smtClean="0"/>
                        <a:t> access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Wide Tables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Narrow Tables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Joins</a:t>
                      </a:r>
                      <a:r>
                        <a:rPr lang="en-US" baseline="0" dirty="0" smtClean="0"/>
                        <a:t> using MR – Not optimized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Optimized</a:t>
                      </a:r>
                      <a:r>
                        <a:rPr lang="en-US" baseline="0" dirty="0" smtClean="0"/>
                        <a:t> for joins(Faster)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Tight Integration</a:t>
                      </a:r>
                      <a:r>
                        <a:rPr lang="en-US" baseline="0" dirty="0" smtClean="0"/>
                        <a:t> with MR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r>
                        <a:rPr lang="en-US" baseline="0" dirty="0" smtClean="0"/>
                        <a:t> MR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 Normalized</a:t>
                      </a:r>
                      <a:r>
                        <a:rPr lang="en-US" baseline="0" dirty="0" smtClean="0"/>
                        <a:t> Data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Normalized</a:t>
                      </a:r>
                      <a:r>
                        <a:rPr lang="en-US" baseline="0" dirty="0" smtClean="0"/>
                        <a:t> Data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Horizontally Scalable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Hard to Shard and Scale</a:t>
                      </a:r>
                      <a:endParaRPr lang="en-IN" dirty="0"/>
                    </a:p>
                  </a:txBody>
                  <a:tcPr marL="94492" marR="94492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Consistent</a:t>
                      </a:r>
                      <a:endParaRPr lang="en-IN" dirty="0"/>
                    </a:p>
                  </a:txBody>
                  <a:tcPr marL="94492" marR="94492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Consistent </a:t>
                      </a:r>
                      <a:endParaRPr lang="en-IN" dirty="0"/>
                    </a:p>
                  </a:txBody>
                  <a:tcPr marL="94492" marR="94492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</a:rPr>
              <a:t>HBase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 Built on 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</a:rPr>
              <a:t>Hadoop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 err="1" smtClean="0"/>
              <a:t>Hadoop</a:t>
            </a:r>
            <a:r>
              <a:rPr lang="en-IN" dirty="0" smtClean="0"/>
              <a:t> </a:t>
            </a:r>
            <a:r>
              <a:rPr lang="en-IN" dirty="0"/>
              <a:t>provides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/>
              <a:t>Fault tolerance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/>
              <a:t>Scalability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/>
              <a:t>Batch Processing with Map </a:t>
            </a:r>
            <a:r>
              <a:rPr lang="en-IN" dirty="0" smtClean="0"/>
              <a:t>reduce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/>
              <a:t>HDFS lacks Random read/write capabilities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 err="1" smtClean="0"/>
              <a:t>HBase</a:t>
            </a:r>
            <a:r>
              <a:rPr lang="en-IN" dirty="0" smtClean="0"/>
              <a:t> </a:t>
            </a:r>
            <a:r>
              <a:rPr lang="en-IN" dirty="0"/>
              <a:t>= HDFS + Random read/writes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 err="1" smtClean="0"/>
              <a:t>HBase</a:t>
            </a:r>
            <a:r>
              <a:rPr lang="en-IN" dirty="0" smtClean="0"/>
              <a:t> </a:t>
            </a:r>
            <a:r>
              <a:rPr lang="en-IN" dirty="0"/>
              <a:t>uses HDFS for storage but adds random read and </a:t>
            </a:r>
            <a:r>
              <a:rPr lang="en-IN" dirty="0" smtClean="0"/>
              <a:t>write by </a:t>
            </a:r>
            <a:r>
              <a:rPr lang="en-IN" dirty="0"/>
              <a:t>appending writes to a logs and occasionally merging </a:t>
            </a:r>
            <a:r>
              <a:rPr lang="en-IN" dirty="0" smtClean="0"/>
              <a:t>those with </a:t>
            </a:r>
            <a:r>
              <a:rPr lang="en-IN" dirty="0"/>
              <a:t>HDFS files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Data Model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•Every row has a row </a:t>
            </a:r>
            <a:r>
              <a:rPr lang="en-IN" dirty="0" smtClean="0"/>
              <a:t>key</a:t>
            </a:r>
            <a:endParaRPr lang="en-IN" dirty="0"/>
          </a:p>
          <a:p>
            <a:pPr>
              <a:buNone/>
            </a:pPr>
            <a:r>
              <a:rPr lang="en-IN" dirty="0"/>
              <a:t>•Rows are stored by row key for fast lookups</a:t>
            </a:r>
          </a:p>
          <a:p>
            <a:pPr>
              <a:buNone/>
            </a:pPr>
            <a:r>
              <a:rPr lang="en-IN" dirty="0" smtClean="0"/>
              <a:t>•</a:t>
            </a:r>
            <a:r>
              <a:rPr lang="en-IN" dirty="0"/>
              <a:t>A table may have 1 or more column families</a:t>
            </a:r>
          </a:p>
          <a:p>
            <a:pPr>
              <a:buNone/>
            </a:pPr>
            <a:r>
              <a:rPr lang="en-IN" dirty="0" smtClean="0"/>
              <a:t>•</a:t>
            </a:r>
            <a:r>
              <a:rPr lang="en-IN" dirty="0"/>
              <a:t>Common to have a small number of </a:t>
            </a:r>
            <a:r>
              <a:rPr lang="en-IN" dirty="0" smtClean="0"/>
              <a:t>column families</a:t>
            </a:r>
            <a:endParaRPr lang="en-IN" dirty="0"/>
          </a:p>
          <a:p>
            <a:pPr>
              <a:buNone/>
            </a:pPr>
            <a:r>
              <a:rPr lang="en-IN" dirty="0"/>
              <a:t>•A column family can have number of columns</a:t>
            </a:r>
          </a:p>
          <a:p>
            <a:pPr>
              <a:buNone/>
            </a:pPr>
            <a:r>
              <a:rPr lang="en-IN" dirty="0"/>
              <a:t>•Each row has a timestamp</a:t>
            </a:r>
          </a:p>
          <a:p>
            <a:pPr>
              <a:buNone/>
            </a:pPr>
            <a:r>
              <a:rPr lang="en-IN" dirty="0"/>
              <a:t>•Multiple versions of a row can exist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Table Format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is Distributed Sorted Map	</a:t>
            </a:r>
          </a:p>
          <a:p>
            <a:pPr lvl="1">
              <a:buFont typeface="Arial" pitchFamily="34" charset="0"/>
              <a:buChar char="•"/>
            </a:pPr>
            <a:r>
              <a:rPr lang="en-US" sz="2600" dirty="0" smtClean="0"/>
              <a:t>Row Key + Column Key + Timestamp -&gt; Value</a:t>
            </a:r>
            <a:endParaRPr lang="en-IN" sz="26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857496"/>
            <a:ext cx="6905625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Versions of Data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•	Keeps </a:t>
            </a:r>
            <a:r>
              <a:rPr lang="en-IN" dirty="0"/>
              <a:t>3 versions of a row </a:t>
            </a:r>
            <a:r>
              <a:rPr lang="en-IN" dirty="0" smtClean="0"/>
              <a:t>by Default	</a:t>
            </a:r>
            <a:endParaRPr lang="en-IN" dirty="0"/>
          </a:p>
          <a:p>
            <a:pPr>
              <a:buNone/>
            </a:pPr>
            <a:r>
              <a:rPr lang="en-IN" dirty="0" smtClean="0"/>
              <a:t>•	Sorted </a:t>
            </a:r>
            <a:r>
              <a:rPr lang="en-IN" dirty="0"/>
              <a:t>by their timestamp (descending order) </a:t>
            </a:r>
          </a:p>
          <a:p>
            <a:pPr>
              <a:buNone/>
            </a:pPr>
            <a:endParaRPr lang="en-IN" sz="1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3286124"/>
            <a:ext cx="629602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Shell Commands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dirty="0" smtClean="0"/>
              <a:t>•</a:t>
            </a:r>
            <a:r>
              <a:rPr lang="en-IN" dirty="0"/>
              <a:t>list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/>
              <a:t>Lists all user tables in </a:t>
            </a:r>
            <a:r>
              <a:rPr lang="en-IN" dirty="0" err="1"/>
              <a:t>HBase</a:t>
            </a:r>
            <a:endParaRPr lang="en-IN" dirty="0"/>
          </a:p>
          <a:p>
            <a:pPr>
              <a:buNone/>
            </a:pPr>
            <a:r>
              <a:rPr lang="en-IN" dirty="0"/>
              <a:t>•describe &lt;table name&gt;</a:t>
            </a:r>
          </a:p>
          <a:p>
            <a:pPr>
              <a:buNone/>
            </a:pPr>
            <a:r>
              <a:rPr lang="en-IN" dirty="0" smtClean="0"/>
              <a:t>	•</a:t>
            </a:r>
            <a:r>
              <a:rPr lang="en-IN" dirty="0"/>
              <a:t>Returns the structure of the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Create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r>
              <a:rPr lang="en-IN" dirty="0" smtClean="0"/>
              <a:t>create </a:t>
            </a:r>
            <a:r>
              <a:rPr lang="en-IN" dirty="0"/>
              <a:t>'t1', {NAME =&gt; 'cf1', VERSIONS =&gt; 5} </a:t>
            </a:r>
          </a:p>
          <a:p>
            <a:r>
              <a:rPr lang="en-IN" dirty="0" smtClean="0"/>
              <a:t>create </a:t>
            </a:r>
            <a:r>
              <a:rPr lang="en-IN" dirty="0"/>
              <a:t>'t1', {NAME =&gt; 'cf1'}, {NAME =&gt; 'cf2'}, {NAME =&gt; 'cf3'} </a:t>
            </a:r>
          </a:p>
          <a:p>
            <a:r>
              <a:rPr lang="en-IN" dirty="0" smtClean="0"/>
              <a:t>create </a:t>
            </a:r>
            <a:r>
              <a:rPr lang="en-IN" dirty="0"/>
              <a:t>'t1', 'cf1', 'cf2', 'cf3' 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Get &amp; Put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r>
              <a:rPr lang="en-IN" dirty="0" smtClean="0"/>
              <a:t>get </a:t>
            </a:r>
            <a:r>
              <a:rPr lang="en-IN" dirty="0"/>
              <a:t>'t1', 'r1' </a:t>
            </a:r>
          </a:p>
          <a:p>
            <a:r>
              <a:rPr lang="en-IN" dirty="0" smtClean="0"/>
              <a:t>get </a:t>
            </a:r>
            <a:r>
              <a:rPr lang="en-IN" dirty="0"/>
              <a:t>'t1', 'r1', {TIMERANGE =&gt; [ts1, ts2]} </a:t>
            </a:r>
          </a:p>
          <a:p>
            <a:r>
              <a:rPr lang="en-IN" dirty="0" smtClean="0"/>
              <a:t>get </a:t>
            </a:r>
            <a:r>
              <a:rPr lang="en-IN" dirty="0"/>
              <a:t>'t1', 'r1', {COLUMN =&gt; 'c1'} </a:t>
            </a:r>
          </a:p>
          <a:p>
            <a:r>
              <a:rPr lang="en-IN" dirty="0" smtClean="0"/>
              <a:t>get </a:t>
            </a:r>
            <a:r>
              <a:rPr lang="en-IN" dirty="0"/>
              <a:t>'t1', 'r1', {COLUMN =&gt; ['c1', 'c2', 'c3']} 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r>
              <a:rPr lang="en-IN" dirty="0" smtClean="0"/>
              <a:t>put </a:t>
            </a:r>
            <a:r>
              <a:rPr lang="en-IN" dirty="0"/>
              <a:t>'t1', 'r1', 'c1', 'value', ts1 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7154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Scan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r>
              <a:rPr lang="en-IN" dirty="0" smtClean="0"/>
              <a:t>scan </a:t>
            </a:r>
            <a:r>
              <a:rPr lang="en-IN" dirty="0"/>
              <a:t>'t1' </a:t>
            </a:r>
          </a:p>
          <a:p>
            <a:r>
              <a:rPr lang="en-IN" dirty="0" smtClean="0"/>
              <a:t>scan </a:t>
            </a:r>
            <a:r>
              <a:rPr lang="en-IN" dirty="0"/>
              <a:t>'t1', {COLUMNS =&gt; ''} </a:t>
            </a:r>
          </a:p>
          <a:p>
            <a:r>
              <a:rPr lang="en-IN" dirty="0" smtClean="0"/>
              <a:t>scan </a:t>
            </a:r>
            <a:r>
              <a:rPr lang="en-IN" dirty="0"/>
              <a:t>'t1', {COLUMNS =&gt; ['c1', 'c2'], LIMIT =&gt; 10, STARTROW =&gt; 'xyz'} </a:t>
            </a:r>
          </a:p>
          <a:p>
            <a:r>
              <a:rPr lang="fr-FR" dirty="0" smtClean="0"/>
              <a:t>scan </a:t>
            </a:r>
            <a:r>
              <a:rPr lang="fr-FR" dirty="0"/>
              <a:t>'t1', {COLUMNS =&gt; 'c1', TIMERANGE =&gt; [1303668804, 1303668904]} 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30100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Delete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r>
              <a:rPr lang="en-IN" dirty="0" smtClean="0"/>
              <a:t>Deleting </a:t>
            </a:r>
            <a:r>
              <a:rPr lang="en-IN" dirty="0"/>
              <a:t>columns in a row </a:t>
            </a:r>
            <a:endParaRPr lang="en-IN" dirty="0" smtClean="0"/>
          </a:p>
          <a:p>
            <a:pPr lvl="1"/>
            <a:r>
              <a:rPr lang="en-US" dirty="0"/>
              <a:t>d</a:t>
            </a:r>
            <a:r>
              <a:rPr lang="en-US" dirty="0" smtClean="0"/>
              <a:t>elete ‘</a:t>
            </a:r>
            <a:r>
              <a:rPr lang="en-US" dirty="0" err="1" smtClean="0"/>
              <a:t>table_name</a:t>
            </a:r>
            <a:r>
              <a:rPr lang="en-US" dirty="0" smtClean="0"/>
              <a:t>’, ‘</a:t>
            </a:r>
            <a:r>
              <a:rPr lang="en-US" dirty="0" err="1" smtClean="0"/>
              <a:t>row_key</a:t>
            </a:r>
            <a:r>
              <a:rPr lang="en-US" dirty="0" smtClean="0"/>
              <a:t>’, ‘</a:t>
            </a:r>
            <a:r>
              <a:rPr lang="en-US" dirty="0" err="1" smtClean="0"/>
              <a:t>column_name’,’timestamp</a:t>
            </a:r>
            <a:r>
              <a:rPr lang="en-US" dirty="0" smtClean="0"/>
              <a:t>’</a:t>
            </a:r>
          </a:p>
          <a:p>
            <a:pPr lvl="1"/>
            <a:endParaRPr lang="en-US" dirty="0" smtClean="0"/>
          </a:p>
          <a:p>
            <a:r>
              <a:rPr lang="en-IN" dirty="0" smtClean="0"/>
              <a:t>Delete </a:t>
            </a:r>
            <a:r>
              <a:rPr lang="en-IN" dirty="0"/>
              <a:t>an entire row </a:t>
            </a:r>
            <a:endParaRPr lang="en-IN" dirty="0" smtClean="0"/>
          </a:p>
          <a:p>
            <a:pPr lvl="1"/>
            <a:r>
              <a:rPr lang="en-US" dirty="0" err="1"/>
              <a:t>d</a:t>
            </a:r>
            <a:r>
              <a:rPr lang="en-US" dirty="0" err="1" smtClean="0"/>
              <a:t>eleteall</a:t>
            </a:r>
            <a:r>
              <a:rPr lang="en-US" dirty="0" smtClean="0"/>
              <a:t>  ‘</a:t>
            </a:r>
            <a:r>
              <a:rPr lang="en-US" dirty="0" err="1" smtClean="0"/>
              <a:t>table_name</a:t>
            </a:r>
            <a:r>
              <a:rPr lang="en-US" dirty="0" smtClean="0"/>
              <a:t>’,  ‘</a:t>
            </a:r>
            <a:r>
              <a:rPr lang="en-US" dirty="0" err="1" smtClean="0"/>
              <a:t>row_key</a:t>
            </a:r>
            <a:r>
              <a:rPr lang="en-US" dirty="0" smtClean="0"/>
              <a:t>’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4748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Removing  Table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r>
              <a:rPr lang="en-IN" dirty="0"/>
              <a:t>Disable ‘&lt;</a:t>
            </a:r>
            <a:r>
              <a:rPr lang="en-IN" dirty="0" err="1"/>
              <a:t>TableName</a:t>
            </a:r>
            <a:r>
              <a:rPr lang="en-IN" dirty="0"/>
              <a:t>&gt;’ </a:t>
            </a:r>
          </a:p>
          <a:p>
            <a:r>
              <a:rPr lang="en-IN" dirty="0" smtClean="0"/>
              <a:t>Drop </a:t>
            </a:r>
            <a:r>
              <a:rPr lang="en-IN" dirty="0"/>
              <a:t>‘&lt;&gt;’ 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8580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HBase </a:t>
            </a:r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</a:rPr>
              <a:t>Deamons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r>
              <a:rPr lang="en-IN" dirty="0" err="1"/>
              <a:t>HMaster</a:t>
            </a:r>
            <a:r>
              <a:rPr lang="en-IN" dirty="0"/>
              <a:t> </a:t>
            </a:r>
          </a:p>
          <a:p>
            <a:r>
              <a:rPr lang="en-IN" dirty="0" err="1" smtClean="0"/>
              <a:t>HRegionServer</a:t>
            </a:r>
            <a:r>
              <a:rPr lang="en-IN" dirty="0" smtClean="0"/>
              <a:t> </a:t>
            </a:r>
            <a:endParaRPr lang="en-IN" dirty="0"/>
          </a:p>
          <a:p>
            <a:endParaRPr lang="en-IN" dirty="0"/>
          </a:p>
          <a:p>
            <a:pPr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053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Terms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686320"/>
          </a:xfrm>
        </p:spPr>
        <p:txBody>
          <a:bodyPr>
            <a:noAutofit/>
          </a:bodyPr>
          <a:lstStyle/>
          <a:p>
            <a:r>
              <a:rPr lang="en-IN" dirty="0"/>
              <a:t>Region </a:t>
            </a:r>
          </a:p>
          <a:p>
            <a:pPr lvl="1"/>
            <a:r>
              <a:rPr lang="en-IN" dirty="0" smtClean="0"/>
              <a:t>A </a:t>
            </a:r>
            <a:r>
              <a:rPr lang="en-IN" dirty="0"/>
              <a:t>subset of a table’s rows , like a partition </a:t>
            </a:r>
          </a:p>
          <a:p>
            <a:r>
              <a:rPr lang="en-IN" dirty="0" err="1" smtClean="0"/>
              <a:t>RegionServer</a:t>
            </a:r>
            <a:r>
              <a:rPr lang="en-IN" dirty="0" smtClean="0"/>
              <a:t> </a:t>
            </a:r>
            <a:endParaRPr lang="en-IN" dirty="0"/>
          </a:p>
          <a:p>
            <a:pPr lvl="1"/>
            <a:r>
              <a:rPr lang="en-IN" dirty="0" smtClean="0"/>
              <a:t>Serves </a:t>
            </a:r>
            <a:r>
              <a:rPr lang="en-IN" dirty="0"/>
              <a:t>data for reads and writes </a:t>
            </a:r>
          </a:p>
          <a:p>
            <a:r>
              <a:rPr lang="en-IN" dirty="0" smtClean="0"/>
              <a:t>Master </a:t>
            </a:r>
            <a:endParaRPr lang="en-IN" dirty="0"/>
          </a:p>
          <a:p>
            <a:pPr lvl="1"/>
            <a:r>
              <a:rPr lang="en-IN" dirty="0" smtClean="0"/>
              <a:t>Responsible </a:t>
            </a:r>
            <a:r>
              <a:rPr lang="en-IN" dirty="0"/>
              <a:t>for coordinating the slaves (</a:t>
            </a:r>
            <a:r>
              <a:rPr lang="en-IN" dirty="0" err="1"/>
              <a:t>HRegionServer</a:t>
            </a:r>
            <a:r>
              <a:rPr lang="en-IN" dirty="0"/>
              <a:t>) </a:t>
            </a:r>
          </a:p>
          <a:p>
            <a:pPr lvl="1"/>
            <a:r>
              <a:rPr lang="en-IN" dirty="0" smtClean="0"/>
              <a:t>Assigns </a:t>
            </a:r>
            <a:r>
              <a:rPr lang="en-IN" dirty="0"/>
              <a:t>regions, detects failures of </a:t>
            </a:r>
            <a:r>
              <a:rPr lang="en-IN" dirty="0" err="1"/>
              <a:t>HregionServers</a:t>
            </a:r>
            <a:r>
              <a:rPr lang="en-IN" dirty="0"/>
              <a:t> and controls some admin functions </a:t>
            </a:r>
          </a:p>
          <a:p>
            <a:pPr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21984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err="1" smtClean="0">
                <a:solidFill>
                  <a:schemeClr val="accent1">
                    <a:lumMod val="50000"/>
                  </a:schemeClr>
                </a:solidFill>
              </a:rPr>
              <a:t>HBase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 High Level Architecture 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571612"/>
            <a:ext cx="7929617" cy="42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Distribution Of Data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Sequential </a:t>
            </a:r>
            <a:r>
              <a:rPr lang="en-IN" dirty="0" err="1"/>
              <a:t>RowKeys</a:t>
            </a:r>
            <a:r>
              <a:rPr lang="en-IN" dirty="0"/>
              <a:t> will go the same region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68960"/>
            <a:ext cx="6781800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55153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2061669" y="2841456"/>
            <a:ext cx="3162333" cy="72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Issue create Statement Master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Create Table in HBase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467544" y="3140968"/>
            <a:ext cx="1368152" cy="7920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Client</a:t>
            </a:r>
            <a:endParaRPr lang="en-IN" b="1" dirty="0"/>
          </a:p>
        </p:txBody>
      </p:sp>
      <p:sp>
        <p:nvSpPr>
          <p:cNvPr id="5" name="Rounded Rectangle 4"/>
          <p:cNvSpPr/>
          <p:nvPr/>
        </p:nvSpPr>
        <p:spPr>
          <a:xfrm>
            <a:off x="3059832" y="1916832"/>
            <a:ext cx="180020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ZooKeeper</a:t>
            </a:r>
            <a:endParaRPr lang="en-IN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156448" y="3140968"/>
            <a:ext cx="180020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HMaster</a:t>
            </a:r>
            <a:endParaRPr lang="en-IN" b="1" dirty="0"/>
          </a:p>
        </p:txBody>
      </p:sp>
      <p:sp>
        <p:nvSpPr>
          <p:cNvPr id="7" name="Rounded Rectangle 6"/>
          <p:cNvSpPr/>
          <p:nvPr/>
        </p:nvSpPr>
        <p:spPr>
          <a:xfrm>
            <a:off x="5004048" y="4913226"/>
            <a:ext cx="195260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RegionServer</a:t>
            </a:r>
            <a:endParaRPr lang="en-IN" b="1" dirty="0"/>
          </a:p>
        </p:txBody>
      </p:sp>
      <p:sp>
        <p:nvSpPr>
          <p:cNvPr id="8" name="Rounded Rectangle 7"/>
          <p:cNvSpPr/>
          <p:nvPr/>
        </p:nvSpPr>
        <p:spPr>
          <a:xfrm>
            <a:off x="2339752" y="4983189"/>
            <a:ext cx="193210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RegionServer</a:t>
            </a:r>
            <a:endParaRPr lang="en-IN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835696" y="3564077"/>
            <a:ext cx="33207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868144" y="3933056"/>
            <a:ext cx="112204" cy="980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763688" y="2492896"/>
            <a:ext cx="1296144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49912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Storage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Data </a:t>
            </a:r>
            <a:r>
              <a:rPr lang="en-IN" dirty="0"/>
              <a:t>is written to the Region’s </a:t>
            </a:r>
            <a:r>
              <a:rPr lang="en-IN" dirty="0" err="1"/>
              <a:t>Memstore</a:t>
            </a:r>
            <a:r>
              <a:rPr lang="en-IN" dirty="0"/>
              <a:t> </a:t>
            </a:r>
          </a:p>
          <a:p>
            <a:r>
              <a:rPr lang="en-IN" dirty="0" smtClean="0"/>
              <a:t>The </a:t>
            </a:r>
            <a:r>
              <a:rPr lang="en-IN" dirty="0" err="1"/>
              <a:t>Hlog</a:t>
            </a:r>
            <a:r>
              <a:rPr lang="en-IN" dirty="0"/>
              <a:t> is required for crash recovery if the </a:t>
            </a:r>
            <a:r>
              <a:rPr lang="en-IN" dirty="0" err="1"/>
              <a:t>MeMStore</a:t>
            </a:r>
            <a:r>
              <a:rPr lang="en-IN" dirty="0"/>
              <a:t> is lost </a:t>
            </a:r>
          </a:p>
          <a:p>
            <a:r>
              <a:rPr lang="en-IN" dirty="0" smtClean="0"/>
              <a:t>When </a:t>
            </a:r>
            <a:r>
              <a:rPr lang="en-IN" dirty="0"/>
              <a:t>the </a:t>
            </a:r>
            <a:r>
              <a:rPr lang="en-IN" dirty="0" err="1"/>
              <a:t>Memstore</a:t>
            </a:r>
            <a:r>
              <a:rPr lang="en-IN" dirty="0"/>
              <a:t> gets to a certain size, it will flush to an immutable file (Store file) </a:t>
            </a:r>
          </a:p>
          <a:p>
            <a:r>
              <a:rPr lang="en-IN" dirty="0" smtClean="0"/>
              <a:t>Eventually </a:t>
            </a:r>
            <a:r>
              <a:rPr lang="en-IN" dirty="0"/>
              <a:t>these store files will be </a:t>
            </a:r>
            <a:r>
              <a:rPr lang="en-IN" dirty="0" err="1"/>
              <a:t>aggreagted</a:t>
            </a:r>
            <a:r>
              <a:rPr lang="en-IN" dirty="0"/>
              <a:t> and cleaned up during a compaction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087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Region Splits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When </a:t>
            </a:r>
            <a:r>
              <a:rPr lang="en-IN" dirty="0"/>
              <a:t>a Region grows to a certain size, the </a:t>
            </a:r>
            <a:r>
              <a:rPr lang="en-IN" dirty="0" err="1"/>
              <a:t>RegionServer</a:t>
            </a:r>
            <a:r>
              <a:rPr lang="en-IN" dirty="0"/>
              <a:t> will split the Region: </a:t>
            </a:r>
          </a:p>
          <a:p>
            <a:pPr lvl="1"/>
            <a:r>
              <a:rPr lang="en-IN" dirty="0" smtClean="0"/>
              <a:t>A </a:t>
            </a:r>
            <a:r>
              <a:rPr lang="en-IN" dirty="0"/>
              <a:t>Region reaches 256MB </a:t>
            </a:r>
          </a:p>
          <a:p>
            <a:pPr lvl="1"/>
            <a:r>
              <a:rPr lang="en-IN" dirty="0" err="1" smtClean="0"/>
              <a:t>RegionServer</a:t>
            </a:r>
            <a:r>
              <a:rPr lang="en-IN" dirty="0" smtClean="0"/>
              <a:t> </a:t>
            </a:r>
            <a:r>
              <a:rPr lang="en-IN" dirty="0"/>
              <a:t>splits the Region into 2 roughly equal Regions </a:t>
            </a:r>
          </a:p>
          <a:p>
            <a:pPr lvl="1"/>
            <a:r>
              <a:rPr lang="en-IN" dirty="0" err="1" smtClean="0"/>
              <a:t>RegionServer</a:t>
            </a:r>
            <a:r>
              <a:rPr lang="en-IN" dirty="0" smtClean="0"/>
              <a:t> </a:t>
            </a:r>
            <a:r>
              <a:rPr lang="en-IN" dirty="0"/>
              <a:t>updates META table </a:t>
            </a:r>
          </a:p>
          <a:p>
            <a:pPr lvl="1"/>
            <a:r>
              <a:rPr lang="en-IN" dirty="0" err="1" smtClean="0"/>
              <a:t>RegionServer</a:t>
            </a:r>
            <a:r>
              <a:rPr lang="en-IN" dirty="0" smtClean="0"/>
              <a:t> </a:t>
            </a:r>
            <a:r>
              <a:rPr lang="en-IN" dirty="0"/>
              <a:t>informs Master of the split </a:t>
            </a:r>
          </a:p>
          <a:p>
            <a:pPr lvl="1"/>
            <a:r>
              <a:rPr lang="en-IN" dirty="0" smtClean="0"/>
              <a:t>Master </a:t>
            </a:r>
            <a:r>
              <a:rPr lang="en-IN" dirty="0"/>
              <a:t>assigns the new Region to a </a:t>
            </a:r>
            <a:r>
              <a:rPr lang="en-IN" dirty="0" err="1"/>
              <a:t>RegionServer</a:t>
            </a:r>
            <a:r>
              <a:rPr lang="en-IN" dirty="0"/>
              <a:t> </a:t>
            </a:r>
          </a:p>
          <a:p>
            <a:endParaRPr lang="en-IN" dirty="0" smtClean="0"/>
          </a:p>
          <a:p>
            <a:r>
              <a:rPr lang="en-IN" dirty="0" smtClean="0"/>
              <a:t>Region </a:t>
            </a:r>
            <a:r>
              <a:rPr lang="en-IN" dirty="0"/>
              <a:t>Size is configurable. </a:t>
            </a:r>
          </a:p>
        </p:txBody>
      </p:sp>
    </p:spTree>
    <p:extLst>
      <p:ext uri="{BB962C8B-B14F-4D97-AF65-F5344CB8AC3E}">
        <p14:creationId xmlns="" xmlns:p14="http://schemas.microsoft.com/office/powerpoint/2010/main" val="101274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Hands On 	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/>
            <a:endParaRPr lang="en-US" sz="5400" dirty="0" smtClean="0"/>
          </a:p>
          <a:p>
            <a:pPr marL="0" indent="0" algn="ctr">
              <a:buNone/>
            </a:pPr>
            <a:r>
              <a:rPr lang="en-US" sz="5400" dirty="0" smtClean="0"/>
              <a:t>Hands On Exercise</a:t>
            </a:r>
            <a:endParaRPr lang="en-IN" sz="5400" dirty="0"/>
          </a:p>
        </p:txBody>
      </p:sp>
    </p:spTree>
    <p:extLst>
      <p:ext uri="{BB962C8B-B14F-4D97-AF65-F5344CB8AC3E}">
        <p14:creationId xmlns="" xmlns:p14="http://schemas.microsoft.com/office/powerpoint/2010/main" val="111752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 	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 smtClean="0"/>
              <a:t>Any Questions??</a:t>
            </a:r>
          </a:p>
          <a:p>
            <a:pPr marL="0" indent="0" algn="ctr">
              <a:buNone/>
            </a:pPr>
            <a:endParaRPr lang="en-US" sz="5400" dirty="0" smtClean="0"/>
          </a:p>
          <a:p>
            <a:pPr marL="0" indent="0" algn="ctr">
              <a:buNone/>
            </a:pPr>
            <a:r>
              <a:rPr lang="en-US" sz="5400" dirty="0" smtClean="0"/>
              <a:t>Thank You!!!</a:t>
            </a:r>
            <a:endParaRPr lang="en-US" sz="5400" dirty="0"/>
          </a:p>
        </p:txBody>
      </p:sp>
    </p:spTree>
    <p:extLst>
      <p:ext uri="{BB962C8B-B14F-4D97-AF65-F5344CB8AC3E}">
        <p14:creationId xmlns="" xmlns:p14="http://schemas.microsoft.com/office/powerpoint/2010/main" val="347102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372</TotalTime>
  <Words>714</Words>
  <Application>Microsoft Office PowerPoint</Application>
  <PresentationFormat>On-screen Show (4:3)</PresentationFormat>
  <Paragraphs>164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Civic</vt:lpstr>
      <vt:lpstr>Apache HBase</vt:lpstr>
      <vt:lpstr>HBase in Hadoop Eco System</vt:lpstr>
      <vt:lpstr>HBASE</vt:lpstr>
      <vt:lpstr>When to Use HBASE </vt:lpstr>
      <vt:lpstr>When to Use HBASE </vt:lpstr>
      <vt:lpstr>When Not to Use HBASE </vt:lpstr>
      <vt:lpstr>HBASE vs RDBMS</vt:lpstr>
      <vt:lpstr>HBase Built on Hadoop</vt:lpstr>
      <vt:lpstr>Data Model</vt:lpstr>
      <vt:lpstr>Table Format</vt:lpstr>
      <vt:lpstr>Versions of Data</vt:lpstr>
      <vt:lpstr>Shell Commands</vt:lpstr>
      <vt:lpstr>Create</vt:lpstr>
      <vt:lpstr>Get &amp; Put</vt:lpstr>
      <vt:lpstr>Scan</vt:lpstr>
      <vt:lpstr>Delete</vt:lpstr>
      <vt:lpstr>Removing  Table</vt:lpstr>
      <vt:lpstr>HBase Deamons</vt:lpstr>
      <vt:lpstr>Terms</vt:lpstr>
      <vt:lpstr>HBase High Level Architecture </vt:lpstr>
      <vt:lpstr>Distribution Of Data</vt:lpstr>
      <vt:lpstr>Create Table in HBase</vt:lpstr>
      <vt:lpstr>Data Storage</vt:lpstr>
      <vt:lpstr>Region Splits</vt:lpstr>
      <vt:lpstr>Hands On  </vt:lpstr>
      <vt:lpstr>  </vt:lpstr>
    </vt:vector>
  </TitlesOfParts>
  <Company>Sony India Pvt Ltd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HBase</dc:title>
  <dc:creator>Natarajan</dc:creator>
  <cp:lastModifiedBy>Penchalaiah</cp:lastModifiedBy>
  <cp:revision>134</cp:revision>
  <dcterms:created xsi:type="dcterms:W3CDTF">2015-08-15T08:28:55Z</dcterms:created>
  <dcterms:modified xsi:type="dcterms:W3CDTF">2017-07-01T18:26:03Z</dcterms:modified>
</cp:coreProperties>
</file>